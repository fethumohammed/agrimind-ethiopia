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AgriMind is not just a disease diagnosis app. We are building agricultural intelligence infrastructure for Ethiopia and Africa. Today, we diagnose crop diseases. Tomorrow, we power the entire agricultural ecosystem.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our north star. Every decision we make — every feature, every partnership, every hire — must move us closer to this 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don't try to build everything at once. We focus on one stage, validate it, then expand.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we have a working MVP. Farmers take photos, get diagnoses, and receive treatment recommendations in their own language. Our next milestone is the cooperative dashboard and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2 is where we expand beyond diagnosis. We add weather, advisory, and institutional services. Our team grows to 15 people. Revenue reaches $100K.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3 is where we become the operating system for Ethiopian agriculture. We connect farmers to everything they need — knowledge, inputs, markets, and finance.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4 is continental scale. We power agricultural intelligence across Africa. Our data becomes the reference for food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our full evolution map. Every dimension scales — services, crops, languages, countries, farmers, team, and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not another app. We are the intelligence layer. We don't compete with the ecosystem — we power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moat is the data flywheel. More farmers create more data, which creates better AI, which attracts more farmers. Global platforms don't have Ethiopian field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business model is B2B + B2B2C. Farmers never pay. Cooperatives, NGOs, and agribusinesses pay for dashboards, analytics, and API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have specific unfair advantages. Ethiopian field data, expert validation, local languages, cooperative distribution. These are hard for global competitors to copy.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need five things from EAII: AI mentorship, agronomy expertise, field partnerships, business mentorship, and funding. With this support, we can launch a validated Ethiopian agricultural intelligence product in 6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our vision. We are at Idea Stage today, but we have a working MVP, a clear roadmap, and a team committed to launch. We are not building an app — we are building infrastructure.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371600"/>
            <a:ext cx="91440" cy="109728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AgriMind-Ethiopia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D8E8E2"/>
                </a:solidFill>
                <a:latin typeface="Calibri"/>
              </a:rPr>
              <a:t>From Disease Diagnosis to African Agricultural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D49A3A"/>
                </a:solidFill>
                <a:latin typeface="Calibri"/>
              </a:rPr>
              <a:t>Founder &amp; Technical Lead: Fethu Mohammed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4D6D2"/>
                </a:solidFill>
                <a:latin typeface="Calibri"/>
              </a:rPr>
              <a:t>EAII AI Startup Support Program — 2026 Cohort 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4D6D2"/>
                </a:solidFill>
                <a:latin typeface="Calibri"/>
              </a:rPr>
              <a:t>Idea Stage Working Document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C4D6D2"/>
                </a:solidFill>
                <a:latin typeface="Calibri"/>
              </a:rPr>
              <a:t>Current Stage: Working MVP • Early Ethiopian Dataset • Validation Phase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7D5B"/>
                </a:solidFill>
                <a:latin typeface="Calibri"/>
              </a:rPr>
              <a:t>OUR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23B4A"/>
                </a:solidFill>
                <a:latin typeface="Calibri"/>
              </a:rPr>
              <a:t>What We Are Building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418320" cy="3200400"/>
          </a:xfrm>
          <a:prstGeom prst="roundRect">
            <a:avLst/>
          </a:prstGeom>
          <a:solidFill>
            <a:srgbClr val="123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377440"/>
            <a:ext cx="8869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sz="2000" b="0" i="1">
                <a:solidFill>
                  <a:srgbClr val="FFFFFF"/>
                </a:solidFill>
                <a:latin typeface="Calibri"/>
              </a:rPr>
              <a:t>"AgriMind-Ethiopia is building the AI-powered
agricultural intelligence infrastructure
that helps every Ethiopian farmer make
better decisions — from disease diagnosis
to market access — using localized data,
expert knowledge, and accessible technology."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7D5B"/>
                </a:solidFill>
                <a:latin typeface="Calibri"/>
              </a:rPr>
              <a:t>OUR EVOLUTION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23B4A"/>
                </a:solidFill>
                <a:latin typeface="Calibri"/>
              </a:rPr>
              <a:t>From MVP to Continental Infrastructure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45720" marR="45720" marT="27432" marB="27432"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Timeline</a:t>
                      </a:r>
                    </a:p>
                  </a:txBody>
                  <a:tcPr marL="45720" marR="45720" marT="27432" marB="27432"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We Become</a:t>
                      </a:r>
                    </a:p>
                  </a:txBody>
                  <a:tcPr marL="45720" marR="45720" marT="27432" marB="27432"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 Output</a:t>
                      </a:r>
                    </a:p>
                  </a:txBody>
                  <a:tcPr marL="45720" marR="45720" marT="27432" marB="27432">
                    <a:solidFill>
                      <a:srgbClr val="2E7D5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Stage 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Now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AI Crop Diagnosis App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Disease detection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Stage 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Year 1-2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Agricultural Intelligence Platform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Decision support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Stage 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Year 3-5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Full Ecosystem Platform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Farm operating system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Stage 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Year 5-10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African Agricultural Infrastructure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Continental intelligence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2E7D5B"/>
                </a:solidFill>
                <a:latin typeface="Calibri"/>
              </a:rPr>
              <a:t>"We don't build everything at once. We build one layer, validate it, then expand."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7D5B"/>
                </a:solidFill>
                <a:latin typeface="Calibri"/>
              </a:rPr>
              <a:t>STAGE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23B4A"/>
                </a:solidFill>
                <a:latin typeface="Calibri"/>
              </a:rPr>
              <a:t>AI Crop Diagnosis — Where We Are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D6A6E"/>
                </a:solidFill>
                <a:latin typeface="Calibri"/>
              </a:rPr>
              <a:t>Month 0-6 • 3-person team • Working MVP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3035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23B4A"/>
                </a:solidFill>
                <a:latin typeface="Calibri"/>
              </a:rPr>
              <a:t>What We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72326"/>
                </a:solidFill>
                <a:latin typeface="Calibri"/>
              </a:rPr>
              <a:t>A focused AI software company building one thing extremely well — image-based crop disease diagnosis for Ethiopian farmers.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23B4A"/>
                </a:solidFill>
                <a:latin typeface="Calibri"/>
              </a:rPr>
              <a:t>What We Provide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100" b="1">
                <a:solidFill>
                  <a:srgbClr val="2E7D5B"/>
                </a:solidFill>
                <a:latin typeface="Calibri"/>
              </a:rPr>
              <a:t>▸ </a:t>
            </a:r>
            <a:r>
              <a:rPr sz="1100">
                <a:solidFill>
                  <a:srgbClr val="172326"/>
                </a:solidFill>
                <a:latin typeface="Calibri"/>
              </a:rPr>
              <a:t>✅ AI Disease Diagnosis (farmers, free)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100" b="1">
                <a:solidFill>
                  <a:srgbClr val="2E7D5B"/>
                </a:solidFill>
                <a:latin typeface="Calibri"/>
              </a:rPr>
              <a:t>▸ </a:t>
            </a:r>
            <a:r>
              <a:rPr sz="1100">
                <a:solidFill>
                  <a:srgbClr val="172326"/>
                </a:solidFill>
                <a:latin typeface="Calibri"/>
              </a:rPr>
              <a:t>✅ Treatment Recommendations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100" b="1">
                <a:solidFill>
                  <a:srgbClr val="2E7D5B"/>
                </a:solidFill>
                <a:latin typeface="Calibri"/>
              </a:rPr>
              <a:t>▸ </a:t>
            </a:r>
            <a:r>
              <a:rPr sz="1100">
                <a:solidFill>
                  <a:srgbClr val="172326"/>
                </a:solidFill>
                <a:latin typeface="Calibri"/>
              </a:rPr>
              <a:t>✅ Prediction History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100" b="1">
                <a:solidFill>
                  <a:srgbClr val="2E7D5B"/>
                </a:solidFill>
                <a:latin typeface="Calibri"/>
              </a:rPr>
              <a:t>▸ </a:t>
            </a:r>
            <a:r>
              <a:rPr sz="1100">
                <a:solidFill>
                  <a:srgbClr val="172326"/>
                </a:solidFill>
                <a:latin typeface="Calibri"/>
              </a:rPr>
              <a:t>✅ 3 Languages (EN/AM/OM)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100" b="1">
                <a:solidFill>
                  <a:srgbClr val="2E7D5B"/>
                </a:solidFill>
                <a:latin typeface="Calibri"/>
              </a:rPr>
              <a:t>▸ </a:t>
            </a:r>
            <a:r>
              <a:rPr sz="1100">
                <a:solidFill>
                  <a:srgbClr val="172326"/>
                </a:solidFill>
                <a:latin typeface="Calibri"/>
              </a:rPr>
              <a:t>✅ Mobile + Web App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100" b="1">
                <a:solidFill>
                  <a:srgbClr val="2E7D5B"/>
                </a:solidFill>
                <a:latin typeface="Calibri"/>
              </a:rPr>
              <a:t>▸ </a:t>
            </a:r>
            <a:r>
              <a:rPr sz="1100">
                <a:solidFill>
                  <a:srgbClr val="172326"/>
                </a:solidFill>
                <a:latin typeface="Calibri"/>
              </a:rPr>
              <a:t>🔲 Cooperative Dashboard (Month 3)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100" b="1">
                <a:solidFill>
                  <a:srgbClr val="2E7D5B"/>
                </a:solidFill>
                <a:latin typeface="Calibri"/>
              </a:rPr>
              <a:t>▸ </a:t>
            </a:r>
            <a:r>
              <a:rPr sz="1100">
                <a:solidFill>
                  <a:srgbClr val="172326"/>
                </a:solidFill>
                <a:latin typeface="Calibri"/>
              </a:rPr>
              <a:t>🔲 API Access (Month 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2E7D5B"/>
                </a:solidFill>
                <a:latin typeface="Calibri"/>
              </a:rPr>
              <a:t>Success Metric: "A farmer photographs a diseased crop and gets an accurate diagnosis in their own language within 3 seconds."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7D5B"/>
                </a:solidFill>
                <a:latin typeface="Calibri"/>
              </a:rPr>
              <a:t>STAGE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23B4A"/>
                </a:solidFill>
                <a:latin typeface="Calibri"/>
              </a:rPr>
              <a:t>Agricultural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D6A6E"/>
                </a:solidFill>
                <a:latin typeface="Calibri"/>
              </a:rPr>
              <a:t>Year 1-2 • 15-person team • $100K revenue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8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45720" marR="45720" marT="27432" marB="27432"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New Services We Add</a:t>
                      </a:r>
                    </a:p>
                  </a:txBody>
                  <a:tcPr marL="45720" marR="45720" marT="27432" marB="27432">
                    <a:solidFill>
                      <a:srgbClr val="2E7D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Crop Health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Pest ID, Nutrient Deficiency, Severity Assessment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Weather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Local Forecast, Disease Risk Alerts, Irrigation Guidance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Advisory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Planting Calendar, Fertilizer Advice, Crop Rotation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Institutional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Dashboard, Heatmaps, Early Warning, Analytics, API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Communication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SMS Diagnosis, Voice Assistant, Offline Mode, Expert Chat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2E7D5B"/>
                </a:solidFill>
                <a:latin typeface="Calibri"/>
              </a:rPr>
              <a:t>Success Metric: "AgriMind is the go-to agricultural intelligence platform for Ethiopian cooperatives, NGOs, and agribusinesses."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7D5B"/>
                </a:solidFill>
                <a:latin typeface="Calibri"/>
              </a:rPr>
              <a:t>STAGE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23B4A"/>
                </a:solidFill>
                <a:latin typeface="Calibri"/>
              </a:rPr>
              <a:t>Full Ecosystem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D6A6E"/>
                </a:solidFill>
                <a:latin typeface="Calibri"/>
              </a:rPr>
              <a:t>Year 3-5 • 50-person team • $1.2M revenue • 3 countries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80"/>
          <a:ext cx="109728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45720" marR="45720" marT="27432" marB="27432"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New Services We Add</a:t>
                      </a:r>
                    </a:p>
                  </a:txBody>
                  <a:tcPr marL="45720" marR="45720" marT="27432" marB="27432">
                    <a:solidFill>
                      <a:srgbClr val="2E7D5B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Farm Management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Farm Profile, Crop Tracking, Yield Prediction, Carbon Tracking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Market Access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Market Prices, Price Trends, Buyer Connections, Export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Financial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Loan Eligibility, Insurance, Savings, Payments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Supply Chain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Input Ordering, Mechanization, Logistics, Storage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Advanced Tech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Satellite, Drones, IoT Sensors, AI Automation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Knowledge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Training Platform, Community, Expert Network, Certification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2E7D5B"/>
                </a:solidFill>
                <a:latin typeface="Calibri"/>
              </a:rPr>
              <a:t>Success Metric: "AgriMind is the operating system for Ethiopian agriculture — connecting 1 million farmers to knowledge, inputs, markets, and finance."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7D5B"/>
                </a:solidFill>
                <a:latin typeface="Calibri"/>
              </a:rPr>
              <a:t>STAGE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23B4A"/>
                </a:solidFill>
                <a:latin typeface="Calibri"/>
              </a:rPr>
              <a:t>African Agricultural Intelligence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D6A6E"/>
                </a:solidFill>
                <a:latin typeface="Calibri"/>
              </a:rPr>
              <a:t>Year 5-10 • 200+ team • $18.5M revenue • 10+ countries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8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45720" marR="45720" marT="27432" marB="27432"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New Services We Add</a:t>
                      </a:r>
                    </a:p>
                  </a:txBody>
                  <a:tcPr marL="45720" marR="45720" marT="27432" marB="27432">
                    <a:solidFill>
                      <a:srgbClr val="2E7D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Multi-Country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Country AI, Regional Analytics, Policy Intelligence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Continental Data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African Crop Dataset, Disease Surveillance, Climate Data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Government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National Dashboards, Food Security Alerts, Policy Recommendations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Enterprise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White-Label, Research API, Insurance Integration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Open Source Models, African Language AI, Edge AI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2E7D5B"/>
                </a:solidFill>
                <a:latin typeface="Calibri"/>
              </a:rPr>
              <a:t>Success Metric: "AgriMind is the agricultural intelligence infrastructure for Africa — powering food security for 100 million farmers."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7D5B"/>
                </a:solidFill>
                <a:latin typeface="Calibri"/>
              </a:rPr>
              <a:t>OUR GROWTH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23B4A"/>
                </a:solidFill>
                <a:latin typeface="Calibri"/>
              </a:rPr>
              <a:t>Every Metric, Every Stage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737360"/>
          <a:ext cx="11430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45720" marR="45720" marT="27432" marB="27432"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Stage 1 (Now)</a:t>
                      </a:r>
                    </a:p>
                  </a:txBody>
                  <a:tcPr marL="45720" marR="45720" marT="27432" marB="27432"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Stage 2 (Y1-2)</a:t>
                      </a:r>
                    </a:p>
                  </a:txBody>
                  <a:tcPr marL="45720" marR="45720" marT="27432" marB="27432"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Stage 3 (Y3-5)</a:t>
                      </a:r>
                    </a:p>
                  </a:txBody>
                  <a:tcPr marL="45720" marR="45720" marT="27432" marB="27432"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Stage 4 (Y5-10)</a:t>
                      </a:r>
                    </a:p>
                  </a:txBody>
                  <a:tcPr marL="45720" marR="45720" marT="27432" marB="27432">
                    <a:solidFill>
                      <a:srgbClr val="2E7D5B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Organization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AI software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Ag intelligence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Full-stack agtech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Continental infra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Core Product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Diagnosis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Decision support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Farm OS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Ag intelligence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Services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15+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50+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100+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Disease Classes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50+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100+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200+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Crops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50+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Languages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30+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Countries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10+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Farmers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50K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1M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10M+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Team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200+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$100K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$1.2M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72326"/>
                          </a:solidFill>
                          <a:latin typeface="Calibri"/>
                        </a:rPr>
                        <a:t>$18M+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7D5B"/>
                </a:solidFill>
                <a:latin typeface="Calibri"/>
              </a:rPr>
              <a:t>WHAT WE ARE REALLY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23B4A"/>
                </a:solidFill>
                <a:latin typeface="Calibri"/>
              </a:rPr>
              <a:t>Not What You Think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303520" cy="3474720"/>
          </a:xfrm>
          <a:prstGeom prst="roundRect">
            <a:avLst/>
          </a:prstGeom>
          <a:solidFill>
            <a:srgbClr val="F8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B84C4C"/>
                </a:solidFill>
                <a:latin typeface="Calibri"/>
              </a:rPr>
              <a:t>We are NOT building: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00" b="1">
                <a:solidFill>
                  <a:srgbClr val="B84C4C"/>
                </a:solidFill>
                <a:latin typeface="Calibri"/>
              </a:rPr>
              <a:t>▸ </a:t>
            </a:r>
            <a:r>
              <a:rPr sz="1300">
                <a:solidFill>
                  <a:srgbClr val="172326"/>
                </a:solidFill>
                <a:latin typeface="Calibri"/>
              </a:rPr>
              <a:t>Another agricultural app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00" b="1">
                <a:solidFill>
                  <a:srgbClr val="B84C4C"/>
                </a:solidFill>
                <a:latin typeface="Calibri"/>
              </a:rPr>
              <a:t>▸ </a:t>
            </a:r>
            <a:r>
              <a:rPr sz="1300">
                <a:solidFill>
                  <a:srgbClr val="172326"/>
                </a:solidFill>
                <a:latin typeface="Calibri"/>
              </a:rPr>
              <a:t>A marketplace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00" b="1">
                <a:solidFill>
                  <a:srgbClr val="B84C4C"/>
                </a:solidFill>
                <a:latin typeface="Calibri"/>
              </a:rPr>
              <a:t>▸ </a:t>
            </a:r>
            <a:r>
              <a:rPr sz="1300">
                <a:solidFill>
                  <a:srgbClr val="172326"/>
                </a:solidFill>
                <a:latin typeface="Calibri"/>
              </a:rPr>
              <a:t>A chatbot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00" b="1">
                <a:solidFill>
                  <a:srgbClr val="B84C4C"/>
                </a:solidFill>
                <a:latin typeface="Calibri"/>
              </a:rPr>
              <a:t>▸ </a:t>
            </a:r>
            <a:r>
              <a:rPr sz="1300">
                <a:solidFill>
                  <a:srgbClr val="172326"/>
                </a:solidFill>
                <a:latin typeface="Calibri"/>
              </a:rPr>
              <a:t>A weather app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00" b="1">
                <a:solidFill>
                  <a:srgbClr val="B84C4C"/>
                </a:solidFill>
                <a:latin typeface="Calibri"/>
              </a:rPr>
              <a:t>▸ </a:t>
            </a:r>
            <a:r>
              <a:rPr sz="1300">
                <a:solidFill>
                  <a:srgbClr val="172326"/>
                </a:solidFill>
                <a:latin typeface="Calibri"/>
              </a:rPr>
              <a:t>A farm management tool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3474720"/>
          </a:xfrm>
          <a:prstGeom prst="roundRect">
            <a:avLst/>
          </a:prstGeom>
          <a:solidFill>
            <a:srgbClr val="E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E7D5B"/>
                </a:solidFill>
                <a:latin typeface="Calibri"/>
              </a:rPr>
              <a:t>We ARE building: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200" b="1">
                <a:solidFill>
                  <a:srgbClr val="2E7D5B"/>
                </a:solidFill>
                <a:latin typeface="Calibri"/>
              </a:rPr>
              <a:t>▸ </a:t>
            </a:r>
            <a:r>
              <a:rPr sz="1200">
                <a:solidFill>
                  <a:srgbClr val="172326"/>
                </a:solidFill>
                <a:latin typeface="Calibri"/>
              </a:rPr>
              <a:t>An agricultural intelligence layer that powers everything else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200" b="1">
                <a:solidFill>
                  <a:srgbClr val="2E7D5B"/>
                </a:solidFill>
                <a:latin typeface="Calibri"/>
              </a:rPr>
              <a:t>▸ </a:t>
            </a:r>
            <a:r>
              <a:rPr sz="1200">
                <a:solidFill>
                  <a:srgbClr val="172326"/>
                </a:solidFill>
                <a:latin typeface="Calibri"/>
              </a:rPr>
              <a:t>A data flywheel — more farmers → more data → better AI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200" b="1">
                <a:solidFill>
                  <a:srgbClr val="2E7D5B"/>
                </a:solidFill>
                <a:latin typeface="Calibri"/>
              </a:rPr>
              <a:t>▸ </a:t>
            </a:r>
            <a:r>
              <a:rPr sz="1200">
                <a:solidFill>
                  <a:srgbClr val="172326"/>
                </a:solidFill>
                <a:latin typeface="Calibri"/>
              </a:rPr>
              <a:t>A platform that other platforms plug into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200" b="1">
                <a:solidFill>
                  <a:srgbClr val="2E7D5B"/>
                </a:solidFill>
                <a:latin typeface="Calibri"/>
              </a:rPr>
              <a:t>▸ </a:t>
            </a:r>
            <a:r>
              <a:rPr sz="1200">
                <a:solidFill>
                  <a:srgbClr val="172326"/>
                </a:solidFill>
                <a:latin typeface="Calibri"/>
              </a:rPr>
              <a:t>An infrastructure for Ethiopian and African agriculture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1">
                <a:solidFill>
                  <a:srgbClr val="123B4A"/>
                </a:solidFill>
                <a:latin typeface="Calibri"/>
              </a:rPr>
              <a:t>"We don't compete with Lersha, FarmerChat, or ATI. We power them."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7D5B"/>
                </a:solidFill>
                <a:latin typeface="Calibri"/>
              </a:rPr>
              <a:t>OUR 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23B4A"/>
                </a:solidFill>
                <a:latin typeface="Calibri"/>
              </a:rPr>
              <a:t>Why We Win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1828800" cy="1188720"/>
          </a:xfrm>
          <a:prstGeom prst="round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Ethiopian
Farmers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011680"/>
            <a:ext cx="1828800" cy="1188720"/>
          </a:xfrm>
          <a:prstGeom prst="roundRect">
            <a:avLst/>
          </a:prstGeom>
          <a:solidFill>
            <a:srgbClr val="123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0" y="21488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Field Images
+ Metadata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011680"/>
            <a:ext cx="1828800" cy="1188720"/>
          </a:xfrm>
          <a:prstGeom prst="round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21488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Expert
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011680"/>
            <a:ext cx="1828800" cy="1188720"/>
          </a:xfrm>
          <a:prstGeom prst="roundRect">
            <a:avLst/>
          </a:prstGeom>
          <a:solidFill>
            <a:srgbClr val="123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1488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Better
AI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2011680"/>
            <a:ext cx="1828800" cy="1188720"/>
          </a:xfrm>
          <a:prstGeom prst="round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1488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Better
Diagnosis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31920"/>
            <a:ext cx="1828800" cy="1188720"/>
          </a:xfrm>
          <a:prstGeom prst="roundRect">
            <a:avLst/>
          </a:prstGeom>
          <a:solidFill>
            <a:srgbClr val="123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690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More Farmers
Trust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931920"/>
            <a:ext cx="1828800" cy="1188720"/>
          </a:xfrm>
          <a:prstGeom prst="round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40690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More
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3931920"/>
            <a:ext cx="1828800" cy="1188720"/>
          </a:xfrm>
          <a:prstGeom prst="roundRect">
            <a:avLst/>
          </a:prstGeom>
          <a:solidFill>
            <a:srgbClr val="123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79" y="40690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Locally
Validated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931920"/>
            <a:ext cx="1828800" cy="1188720"/>
          </a:xfrm>
          <a:prstGeom prst="roundRect">
            <a:avLst/>
          </a:prstGeom>
          <a:solidFill>
            <a:srgbClr val="D4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0690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Defensible
Moat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3931920"/>
            <a:ext cx="1828800" cy="1188720"/>
          </a:xfrm>
          <a:prstGeom prst="round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40690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Continental
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1">
                <a:solidFill>
                  <a:srgbClr val="123B4A"/>
                </a:solidFill>
                <a:latin typeface="Calibri"/>
              </a:rPr>
              <a:t>"Global platforms have scale. We have Ethiopian field data. That's a moat they cannot easily copy."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7D5B"/>
                </a:solidFill>
                <a:latin typeface="Calibri"/>
              </a:rPr>
              <a:t>HOW WE MAKE MONEY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23B4A"/>
                </a:solidFill>
                <a:latin typeface="Calibri"/>
              </a:rPr>
              <a:t>B2B + B2B2C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E7D5B"/>
                </a:solidFill>
                <a:latin typeface="Calibri"/>
              </a:rPr>
              <a:t>For Farmers: Free forever. Disease diagnosis, recommendations, history, 3 languages.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28600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 marL="45720" marR="45720" marT="27432" marB="27432"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Price Range</a:t>
                      </a:r>
                    </a:p>
                  </a:txBody>
                  <a:tcPr marL="45720" marR="45720" marT="27432" marB="27432"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Target Customer</a:t>
                      </a:r>
                    </a:p>
                  </a:txBody>
                  <a:tcPr marL="45720" marR="45720" marT="27432" marB="27432">
                    <a:solidFill>
                      <a:srgbClr val="2E7D5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Cooperative Dashboard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$500-5,000/year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Cooperatives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Analytics Reports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$1,000-5,000/year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NGOs, Research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API Access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$5,000-20,000/year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Agribusinesses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Custom Deployment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$20,000-100,000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Government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Technical Support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$500-2,000/year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72326"/>
                          </a:solidFill>
                          <a:latin typeface="Calibri"/>
                        </a:rPr>
                        <a:t>All institutions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1">
                <a:solidFill>
                  <a:srgbClr val="123B4A"/>
                </a:solidFill>
                <a:latin typeface="Calibri"/>
              </a:rPr>
              <a:t>"Farmers create impact. Institutions create revenue. Everyone wins."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7D5B"/>
                </a:solidFill>
                <a:latin typeface="Calibri"/>
              </a:rPr>
              <a:t>WHY WE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23B4A"/>
                </a:solidFill>
                <a:latin typeface="Calibri"/>
              </a:rPr>
              <a:t>Our Unfair Advantages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Advantage</a:t>
                      </a:r>
                    </a:p>
                  </a:txBody>
                  <a:tcPr marL="45720" marR="45720" marT="27432" marB="27432"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 marL="45720" marR="45720" marT="27432" marB="27432">
                    <a:solidFill>
                      <a:srgbClr val="2E7D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72326"/>
                          </a:solidFill>
                          <a:latin typeface="Calibri"/>
                        </a:rPr>
                        <a:t>Ethiopian field data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72326"/>
                          </a:solidFill>
                          <a:latin typeface="Calibri"/>
                        </a:rPr>
                        <a:t>Global platforms don't have it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72326"/>
                          </a:solidFill>
                          <a:latin typeface="Calibri"/>
                        </a:rPr>
                        <a:t>Expert validation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72326"/>
                          </a:solidFill>
                          <a:latin typeface="Calibri"/>
                        </a:rPr>
                        <a:t>Our labels are scientifically credible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72326"/>
                          </a:solidFill>
                          <a:latin typeface="Calibri"/>
                        </a:rPr>
                        <a:t>Local languages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72326"/>
                          </a:solidFill>
                          <a:latin typeface="Calibri"/>
                        </a:rPr>
                        <a:t>EN/AM/OM — farmers understand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72326"/>
                          </a:solidFill>
                          <a:latin typeface="Calibri"/>
                        </a:rPr>
                        <a:t>Cooperative distribution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72326"/>
                          </a:solidFill>
                          <a:latin typeface="Calibri"/>
                        </a:rPr>
                        <a:t>Trusted channels already exist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72326"/>
                          </a:solidFill>
                          <a:latin typeface="Calibri"/>
                        </a:rPr>
                        <a:t>B2B + B2B2C model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72326"/>
                          </a:solidFill>
                          <a:latin typeface="Calibri"/>
                        </a:rPr>
                        <a:t>Sustainable revenue from institutions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72326"/>
                          </a:solidFill>
                          <a:latin typeface="Calibri"/>
                        </a:rPr>
                        <a:t>Government alignment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72326"/>
                          </a:solidFill>
                          <a:latin typeface="Calibri"/>
                        </a:rPr>
                        <a:t>DAR flags Agricultural Intelligence as gap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72326"/>
                          </a:solidFill>
                          <a:latin typeface="Calibri"/>
                        </a:rPr>
                        <a:t>Team commitment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72326"/>
                          </a:solidFill>
                          <a:latin typeface="Calibri"/>
                        </a:rPr>
                        <a:t>3 people, full-time, EAII office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72326"/>
                          </a:solidFill>
                          <a:latin typeface="Calibri"/>
                        </a:rPr>
                        <a:t>Clear roadmap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72326"/>
                          </a:solidFill>
                          <a:latin typeface="Calibri"/>
                        </a:rPr>
                        <a:t>Month-by-month execution plan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1">
                <a:solidFill>
                  <a:srgbClr val="123B4A"/>
                </a:solidFill>
                <a:latin typeface="Calibri"/>
              </a:rPr>
              <a:t>"We are not competing with the ecosystem. We are filling the gap the ecosystem identified."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49A3A"/>
                </a:solidFill>
                <a:latin typeface="Calibri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What We Need from EAII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D8E8E2"/>
                </a:solidFill>
                <a:latin typeface="Calibri"/>
              </a:rPr>
              <a:t>Closing the gaps on our 6-month journey to launch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8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45720" marR="45720" marT="27432" marB="27432">
                    <a:solidFill>
                      <a:srgbClr val="D49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</a:t>
                      </a:r>
                    </a:p>
                  </a:txBody>
                  <a:tcPr marL="45720" marR="45720" marT="27432" marB="27432">
                    <a:solidFill>
                      <a:srgbClr val="D49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45720" marR="45720" marT="27432" marB="27432">
                    <a:solidFill>
                      <a:srgbClr val="D49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723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72326"/>
                          </a:solidFill>
                          <a:latin typeface="Calibri"/>
                        </a:rPr>
                        <a:t>AI/ML Mentorship + HPC Resources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72326"/>
                          </a:solidFill>
                          <a:latin typeface="Calibri"/>
                        </a:rPr>
                        <a:t>Model development, dataset training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723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72326"/>
                          </a:solidFill>
                          <a:latin typeface="Calibri"/>
                        </a:rPr>
                        <a:t>Agronomy Expertise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72326"/>
                          </a:solidFill>
                          <a:latin typeface="Calibri"/>
                        </a:rPr>
                        <a:t>Expert validation, local crop knowledge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723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72326"/>
                          </a:solidFill>
                          <a:latin typeface="Calibri"/>
                        </a:rPr>
                        <a:t>Field Partnerships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72326"/>
                          </a:solidFill>
                          <a:latin typeface="Calibri"/>
                        </a:rPr>
                        <a:t>Cooperatives, extension networks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723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72326"/>
                          </a:solidFill>
                          <a:latin typeface="Calibri"/>
                        </a:rPr>
                        <a:t>Business Mentorship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72326"/>
                          </a:solidFill>
                          <a:latin typeface="Calibri"/>
                        </a:rPr>
                        <a:t>Pricing validation, pilot design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723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72326"/>
                          </a:solidFill>
                          <a:latin typeface="Calibri"/>
                        </a:rPr>
                        <a:t>Funding &amp; Connections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72326"/>
                          </a:solidFill>
                          <a:latin typeface="Calibri"/>
                        </a:rPr>
                        <a:t>Dataset collection, pilot deployment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49A3A"/>
                </a:solidFill>
                <a:latin typeface="Calibri"/>
              </a:rPr>
              <a:t>Our Next Milestones: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Expand Ethiopian Data → Validate with Experts → Run Field Pilots → Build Decision Support → LAUNCH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"We start with disease diagnosis.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D49A3A"/>
                </a:solidFill>
                <a:latin typeface="Calibri"/>
              </a:rPr>
              <a:t>We become Ethiopia's agricultural intelligence infrastructure.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We scale to power African agriculture."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9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AgriMind-Ethiopia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D8E8E2"/>
                </a:solidFill>
                <a:latin typeface="Calibri"/>
              </a:rPr>
              <a:t>From field images to localized agricultural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C4D6D2"/>
                </a:solidFill>
                <a:latin typeface="Calibri"/>
              </a:rPr>
              <a:t>Founder: Fethu Mohammed  •  EAII AI Startup Support Program — 2026 Cohort 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