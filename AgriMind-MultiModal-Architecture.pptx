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724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EE2500-ECD6-42CB-82E9-C08561F6250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8EFD7C-9301-4D46-9977-0B7190E63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896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our multi-modal architecture. We combine leaf images with environmental context — GPS, altitude, weather, crop type, and growth stage. A fusion layer combines these signals to produce a diagnosis that is far more accurate than image alone. This is scientifically validated by Ethiopian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7D5B"/>
                </a:solidFill>
                <a:latin typeface="Calibri"/>
              </a:rPr>
              <a:t>MULTI-MODAL AI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23B4A"/>
                </a:solidFill>
                <a:latin typeface="Calibri"/>
              </a:rPr>
              <a:t>Image + Environmental Context = Accurate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D6A6E"/>
                </a:solidFill>
                <a:latin typeface="Calibri"/>
              </a:rPr>
              <a:t>INPUTS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22860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A5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10000"/>
              </a:lnSpc>
            </a:pPr>
            <a:r>
              <a:rPr sz="1100" b="1" dirty="0">
                <a:solidFill>
                  <a:srgbClr val="172326"/>
                </a:solidFill>
                <a:latin typeface="Calibri"/>
              </a:rPr>
              <a:t>📷 Leaf Image
(Visual Symptoms)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2A5F8F"/>
                </a:solidFill>
                <a:latin typeface="Calibri"/>
              </a:rPr>
              <a:t>CNN / Vision Model
MobileNetV2 / EfficientNet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566160"/>
            <a:ext cx="22860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172326"/>
                </a:solidFill>
                <a:latin typeface="Calibri"/>
              </a:rPr>
              <a:t>🌍 Environmental Data
GPS • Altitude • Weather
Humidity • Rainfall • Soil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2E7D5B"/>
                </a:solidFill>
                <a:latin typeface="Calibri"/>
              </a:rPr>
              <a:t>Tabular Model
Feedforward Network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349240"/>
            <a:ext cx="22860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172326"/>
                </a:solidFill>
                <a:latin typeface="Calibri"/>
              </a:rPr>
              <a:t>🌱 Crop Context
Crop Type • Growth Stage
Farmer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463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D6A6E"/>
                </a:solidFill>
                <a:latin typeface="Calibri"/>
              </a:rPr>
              <a:t>FUSION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103120"/>
            <a:ext cx="1463040" cy="731520"/>
          </a:xfrm>
          <a:prstGeom prst="roundRect">
            <a:avLst/>
          </a:prstGeom>
          <a:solidFill>
            <a:srgbClr val="2A5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Image
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3657600"/>
            <a:ext cx="1463040" cy="731520"/>
          </a:xfrm>
          <a:prstGeom prst="roundRect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Environmental
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5029200"/>
            <a:ext cx="1463040" cy="731520"/>
          </a:xfrm>
          <a:prstGeom prst="round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Context
Features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2743200"/>
            <a:ext cx="2011680" cy="2377440"/>
          </a:xfrm>
          <a:prstGeom prst="roundRect">
            <a:avLst/>
          </a:prstGeom>
          <a:solidFill>
            <a:srgbClr val="123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🔗
FUSION LAYER
Attention-Based
Feature Combination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43200" y="2331720"/>
            <a:ext cx="914400" cy="137160"/>
          </a:xfrm>
          <a:prstGeom prst="line">
            <a:avLst/>
          </a:prstGeom>
          <a:ln w="38100">
            <a:solidFill>
              <a:srgbClr val="2A5F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743200" y="4023360"/>
            <a:ext cx="914400" cy="91440"/>
          </a:xfrm>
          <a:prstGeom prst="line">
            <a:avLst/>
          </a:prstGeom>
          <a:ln w="38100">
            <a:solidFill>
              <a:srgbClr val="2E7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743200" y="5394960"/>
            <a:ext cx="914400" cy="365760"/>
          </a:xfrm>
          <a:prstGeom prst="line">
            <a:avLst/>
          </a:prstGeom>
          <a:ln w="38100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120640" y="2468880"/>
            <a:ext cx="548640" cy="1005840"/>
          </a:xfrm>
          <a:prstGeom prst="line">
            <a:avLst/>
          </a:prstGeom>
          <a:ln w="38100">
            <a:solidFill>
              <a:srgbClr val="D49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120640" y="3931920"/>
            <a:ext cx="548640" cy="91440"/>
          </a:xfrm>
          <a:prstGeom prst="line">
            <a:avLst/>
          </a:prstGeom>
          <a:ln w="38100">
            <a:solidFill>
              <a:srgbClr val="D49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120640" y="4480560"/>
            <a:ext cx="548640" cy="914400"/>
          </a:xfrm>
          <a:prstGeom prst="line">
            <a:avLst/>
          </a:prstGeom>
          <a:ln w="38100">
            <a:solidFill>
              <a:srgbClr val="D49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0" y="1463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D6A6E"/>
                </a:solidFill>
                <a:latin typeface="Calibri"/>
              </a:rPr>
              <a:t>OUTPUT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2103120"/>
            <a:ext cx="3200400" cy="731520"/>
          </a:xfrm>
          <a:prstGeom prst="roundRect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Disease
Diagnosis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017520"/>
            <a:ext cx="3200400" cy="731520"/>
          </a:xfrm>
          <a:prstGeom prst="roundRect">
            <a:avLst/>
          </a:prstGeom>
          <a:solidFill>
            <a:srgbClr val="D4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Confidence
Score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931920"/>
            <a:ext cx="3200400" cy="731520"/>
          </a:xfrm>
          <a:prstGeom prst="roundRect">
            <a:avLst/>
          </a:prstGeom>
          <a:solidFill>
            <a:srgbClr val="123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Treatment
Recommendation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846320"/>
            <a:ext cx="3200400" cy="731520"/>
          </a:xfrm>
          <a:prstGeom prst="roundRect">
            <a:avLst/>
          </a:prstGeom>
          <a:solidFill>
            <a:srgbClr val="B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Expert
Escalation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7680960" y="2468880"/>
            <a:ext cx="548640" cy="1463040"/>
          </a:xfrm>
          <a:prstGeom prst="line">
            <a:avLst/>
          </a:prstGeom>
          <a:ln w="38100">
            <a:solidFill>
              <a:srgbClr val="D49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680960" y="3383280"/>
            <a:ext cx="548640" cy="548640"/>
          </a:xfrm>
          <a:prstGeom prst="line">
            <a:avLst/>
          </a:prstGeom>
          <a:ln w="38100">
            <a:solidFill>
              <a:srgbClr val="D49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680960" y="3931920"/>
            <a:ext cx="548640" cy="365760"/>
          </a:xfrm>
          <a:prstGeom prst="line">
            <a:avLst/>
          </a:prstGeom>
          <a:ln w="38100">
            <a:solidFill>
              <a:srgbClr val="D49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680960" y="3931920"/>
            <a:ext cx="548640" cy="1280160"/>
          </a:xfrm>
          <a:prstGeom prst="line">
            <a:avLst/>
          </a:prstGeom>
          <a:ln w="38100">
            <a:solidFill>
              <a:srgbClr val="D49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123B4A"/>
                </a:solidFill>
                <a:latin typeface="Calibri"/>
              </a:rPr>
              <a:t>"Research from Jimma University shows multi-modal diagnosis achieves 98% accuracy — vs. 94% for image-only."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110</Words>
  <Application>Microsoft Office PowerPoint</Application>
  <PresentationFormat>Custom</PresentationFormat>
  <Paragraphs>20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justice</dc:creator>
  <dc:description>generated using python-pptx</dc:description>
  <cp:lastModifiedBy>justice</cp:lastModifiedBy>
  <cp:revision>3</cp:revision>
  <dcterms:created xsi:type="dcterms:W3CDTF">2013-01-27T09:14:16Z</dcterms:created>
  <dcterms:modified xsi:type="dcterms:W3CDTF">2026-10-15T14:26:16Z</dcterms:modified>
</cp:coreProperties>
</file>